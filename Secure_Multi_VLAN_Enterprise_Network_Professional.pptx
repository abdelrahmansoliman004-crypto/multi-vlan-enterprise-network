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1005840"/>
            <a:ext cx="5303520" cy="91440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0" y="91440"/>
            <a:ext cx="4023360" cy="731520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NETWORK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132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Secure Multi-VLAN</a:t>
            </a:r>
            <a:br/>
            <a:r>
              <a:t>Enterprise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5204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BD5E1"/>
                </a:solidFill>
              </a:defRPr>
            </a:pPr>
            <a:r>
              <a:t>Centralized DHCP &amp; DNS  •  OSPF Routing  •  SSH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280160"/>
            <a:ext cx="2103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42646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82B"/>
                </a:solidFill>
              </a:defRPr>
            </a:pPr>
            <a:r>
              <a:t>VLAN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2377440"/>
            <a:ext cx="2103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25237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82B"/>
                </a:solidFill>
              </a:defRPr>
            </a:pPr>
            <a:r>
              <a:t>VLAN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3474720"/>
            <a:ext cx="2103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36210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82B"/>
                </a:solidFill>
              </a:defRPr>
            </a:pPr>
            <a:r>
              <a:t>VLAN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4572000"/>
            <a:ext cx="2103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47183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82B"/>
                </a:solidFill>
              </a:defRPr>
            </a:pPr>
            <a:r>
              <a:t>VLAN 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97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</a:defRPr>
            </a:pPr>
            <a:r>
              <a:t>Network Design &amp; Security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82B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A scalable routed network with centralized services and secure administration.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" cy="3474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848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82B"/>
                </a:solidFill>
              </a:defRPr>
            </a:pPr>
            <a:r>
              <a:t>4 VLANs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5603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Separate logical networks for VLAN 10, 20, 30 and 40.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82296" cy="34747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0848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82B"/>
                </a:solidFill>
              </a:defRPr>
            </a:pPr>
            <a:r>
              <a:t>Central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5603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One DHCP server and one DNS server serve the complete network.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828800"/>
            <a:ext cx="2286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828800"/>
            <a:ext cx="82296" cy="347472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0848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82B"/>
                </a:solidFill>
              </a:defRPr>
            </a:pPr>
            <a:r>
              <a:t>OSPF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56032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Dynamic routing connects all routed networks.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4231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828800"/>
            <a:ext cx="82296" cy="3474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208483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82B"/>
                </a:solidFill>
              </a:defRPr>
            </a:pPr>
            <a:r>
              <a:t>SSH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2560320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Encrypted remote access replaces Telnet.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82B"/>
                </a:solidFill>
              </a:defRPr>
            </a:pPr>
            <a:r>
              <a:t>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Four routers connect the VLAN networks; centralized servers are located in VLAN 10.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1645920" cy="73152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Router0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────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377440"/>
            <a:ext cx="1645920" cy="73152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Router1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────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77440"/>
            <a:ext cx="1645920" cy="73152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Router2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────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377440"/>
            <a:ext cx="1645920" cy="73152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Router3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563EB"/>
                </a:solidFill>
              </a:defRPr>
            </a:pPr>
            <a:r>
              <a:t>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8620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182B"/>
                </a:solidFill>
              </a:defRPr>
            </a:pPr>
            <a:r>
              <a:t>VLAN 10</a:t>
            </a:r>
            <a:br/>
            <a:r>
              <a:t>192.168.10.0/24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563EB"/>
                </a:solidFill>
              </a:defRPr>
            </a:pPr>
            <a:r>
              <a:t>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70332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7" y="388620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182B"/>
                </a:solidFill>
              </a:defRPr>
            </a:pPr>
            <a:r>
              <a:t>VLAN 20</a:t>
            </a:r>
            <a:br/>
            <a:r>
              <a:t>192.168.20.0/24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563EB"/>
                </a:solidFill>
              </a:defRPr>
            </a:pPr>
            <a:r>
              <a:t>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0332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88620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182B"/>
                </a:solidFill>
              </a:defRPr>
            </a:pPr>
            <a:r>
              <a:t>VLAN 30</a:t>
            </a:r>
            <a:br/>
            <a:r>
              <a:t>192.168.30.0/24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200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563EB"/>
                </a:solidFill>
              </a:defRPr>
            </a:pPr>
            <a:r>
              <a:t>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370332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3886200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182B"/>
                </a:solidFill>
              </a:defRPr>
            </a:pPr>
            <a:r>
              <a:t>VLAN 40</a:t>
            </a:r>
            <a:br/>
            <a:r>
              <a:t>192.168.40.0/24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57800"/>
            <a:ext cx="5120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681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82B"/>
                </a:solidFill>
              </a:defRPr>
            </a:pPr>
            <a:r>
              <a:t>DHCP Server: 192.168.10.10   |   DNS Server: 192.168.10.11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82B"/>
                </a:solidFill>
              </a:defRPr>
            </a:pPr>
            <a:r>
              <a:t>VLAN Addressing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Each VLAN uses its own /24 network and router gateway.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188720" cy="54864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7" y="1874519"/>
            <a:ext cx="2926080" cy="54864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7" y="20116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874519"/>
            <a:ext cx="2377440" cy="54864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5776" y="20116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52944" y="1874519"/>
            <a:ext cx="3291840" cy="54864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2944" y="20116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42032"/>
            <a:ext cx="1188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883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82B"/>
                </a:solidFill>
              </a:defRPr>
            </a:pPr>
            <a:r>
              <a:t>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29967" y="2542032"/>
            <a:ext cx="29260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5687" y="26883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B182B"/>
                </a:solidFill>
              </a:defRPr>
            </a:pPr>
            <a:r>
              <a:t>192.168.10.0/24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2542032"/>
            <a:ext cx="2377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1496" y="2688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B182B"/>
                </a:solidFill>
              </a:defRPr>
            </a:pPr>
            <a:r>
              <a:t>192.168.10.1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2542032"/>
            <a:ext cx="32918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8664" y="26883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B182B"/>
                </a:solidFill>
              </a:defRPr>
            </a:pPr>
            <a:r>
              <a:t>Central Servers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91839"/>
            <a:ext cx="1188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381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82B"/>
                </a:solidFill>
              </a:defRPr>
            </a:pPr>
            <a:r>
              <a:t>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29967" y="3291839"/>
            <a:ext cx="29260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75687" y="34381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B182B"/>
                </a:solidFill>
              </a:defRPr>
            </a:pPr>
            <a:r>
              <a:t>192.168.20.0/24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5776" y="3291839"/>
            <a:ext cx="2377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1496" y="3438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B182B"/>
                </a:solidFill>
              </a:defRPr>
            </a:pPr>
            <a:r>
              <a:t>192.168.20.1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52944" y="3291839"/>
            <a:ext cx="32918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98664" y="3438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B182B"/>
                </a:solidFill>
              </a:defRPr>
            </a:pPr>
            <a:r>
              <a:t>Client Network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041648"/>
            <a:ext cx="1188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187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82B"/>
                </a:solidFill>
              </a:defRPr>
            </a:pPr>
            <a:r>
              <a:t>30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29967" y="4041648"/>
            <a:ext cx="29260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75687" y="41879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B182B"/>
                </a:solidFill>
              </a:defRPr>
            </a:pPr>
            <a:r>
              <a:t>192.168.30.0/24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65776" y="4041648"/>
            <a:ext cx="2377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11496" y="4187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B182B"/>
                </a:solidFill>
              </a:defRPr>
            </a:pPr>
            <a:r>
              <a:t>192.168.30.1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52944" y="4041648"/>
            <a:ext cx="32918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98664" y="4187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B182B"/>
                </a:solidFill>
              </a:defRPr>
            </a:pPr>
            <a:r>
              <a:t>Client Network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791456"/>
            <a:ext cx="1188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937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82B"/>
                </a:solidFill>
              </a:defRPr>
            </a:pPr>
            <a:r>
              <a:t>40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29967" y="4791456"/>
            <a:ext cx="29260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7" y="4937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B182B"/>
                </a:solidFill>
              </a:defRPr>
            </a:pPr>
            <a:r>
              <a:t>192.168.40.0/24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65776" y="4791456"/>
            <a:ext cx="2377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1496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B182B"/>
                </a:solidFill>
              </a:defRPr>
            </a:pPr>
            <a:r>
              <a:t>192.168.40.1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52944" y="4791456"/>
            <a:ext cx="32918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98664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B182B"/>
                </a:solidFill>
              </a:defRPr>
            </a:pPr>
            <a:r>
              <a:t>Client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82B"/>
                </a:solidFill>
              </a:defRPr>
            </a:pPr>
            <a:r>
              <a:t>Centralized DHCP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One DHCP server distributes addresses to all four VLANs.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108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82296" cy="3566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848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82B"/>
                </a:solidFill>
              </a:defRPr>
            </a:pPr>
            <a:r>
              <a:t>DHCP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Static IP</a:t>
            </a:r>
            <a:br/>
            <a:r>
              <a:t>192.168.10.10</a:t>
            </a:r>
            <a:br/>
            <a:br/>
            <a:r>
              <a:t>Four separate DHCP pools are configured for VLAN 10, 20, 30 and 40.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286000"/>
            <a:ext cx="3566160" cy="91440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DHCP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291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3703320"/>
            <a:ext cx="356616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ip helper-address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681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5074920"/>
            <a:ext cx="3566160" cy="73152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5285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Correct VLAN Pool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28800"/>
            <a:ext cx="32004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82296" cy="35661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0848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82B"/>
                </a:solidFill>
              </a:defRPr>
            </a:pPr>
            <a:r>
              <a:t>DHCP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560320"/>
            <a:ext cx="2651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VLAN 10 → 192.168.10.100+</a:t>
            </a:r>
            <a:br/>
            <a:r>
              <a:t>VLAN 20 → 192.168.20.100+</a:t>
            </a:r>
            <a:br/>
            <a:r>
              <a:t>VLAN 30 → 192.168.30.100+</a:t>
            </a:r>
            <a:br/>
            <a:r>
              <a:t>VLAN 40 → 192.168.40.100+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82B"/>
                </a:solidFill>
              </a:defRPr>
            </a:pPr>
            <a:r>
              <a:t>Centralized 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All clients receive one common DNS server through DHCP.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65760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B182B"/>
                </a:solidFill>
              </a:defRPr>
            </a:pPr>
            <a:r>
              <a:t>DNS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192.168.10.11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9776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</a:defRPr>
            </a:pPr>
            <a:r>
              <a:t>Located in VLAN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82B"/>
                </a:solidFill>
              </a:defRPr>
            </a:pPr>
            <a:r>
              <a:t>Distributed by DHCP 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965960"/>
            <a:ext cx="2103120" cy="105156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VLAN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965960"/>
            <a:ext cx="2103120" cy="10515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VLAN 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611880"/>
            <a:ext cx="2103120" cy="105156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VLAN 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611880"/>
            <a:ext cx="2103120" cy="10515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VLAN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82B"/>
                </a:solidFill>
              </a:defRPr>
            </a:pPr>
            <a:r>
              <a:t>OSPF Dynamic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OSPF automatically shares routes between the routers.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645920" cy="91440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249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468880"/>
            <a:ext cx="164592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7249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68880"/>
            <a:ext cx="164592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7249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</a:defRPr>
            </a:pPr>
            <a:r>
              <a:t>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468880"/>
            <a:ext cx="1645920" cy="914400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27249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148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B182B"/>
                </a:solidFill>
              </a:defRPr>
            </a:pPr>
            <a:r>
              <a:t>Area 0  •  Dynamic route learning  •  Inter-VLAN connectivity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82B"/>
                </a:solidFill>
              </a:defRPr>
            </a:pPr>
            <a:r>
              <a:t>Security: SSH Version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Secure encrypted remote administration for all routers.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004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82296" cy="35661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848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82B"/>
                </a:solidFill>
              </a:defRPr>
            </a:pPr>
            <a:r>
              <a:t>SSH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2651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Encrypted communication</a:t>
            </a:r>
            <a:br/>
            <a:br/>
            <a:r>
              <a:t>Local username authentication</a:t>
            </a:r>
            <a:br/>
            <a:br/>
            <a:r>
              <a:t>Secure replacement for Telnet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82296" cy="3566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848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82B"/>
                </a:solidFill>
              </a:defRPr>
            </a:pPr>
            <a:r>
              <a:t>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login local</a:t>
            </a:r>
            <a:br/>
            <a:br/>
            <a:r>
              <a:t>transport input ssh</a:t>
            </a:r>
            <a:br/>
            <a:br/>
            <a:r>
              <a:t>show ip ssh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2880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828800"/>
            <a:ext cx="82296" cy="35661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08483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82B"/>
                </a:solidFill>
              </a:defRPr>
            </a:pPr>
            <a:r>
              <a:t>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560320"/>
            <a:ext cx="292607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SSH Enabled</a:t>
            </a:r>
            <a:br/>
            <a:r>
              <a:t>version 2.0</a:t>
            </a:r>
            <a:br/>
            <a:br/>
            <a:r>
              <a:t>Telnet is not accepted on VTY 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82B"/>
                </a:solidFill>
              </a:defRPr>
            </a:pPr>
            <a:r>
              <a:t>Testing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The implementation was tested from clients and through Packet Tracer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2011680" cy="53035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739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DHCP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75564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82B"/>
                </a:solidFill>
              </a:defRPr>
            </a:pPr>
            <a:r>
              <a:t>PC receives the correct VLAN 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87168"/>
            <a:ext cx="2011680" cy="530352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151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96896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82B"/>
                </a:solidFill>
              </a:defRPr>
            </a:pPr>
            <a:r>
              <a:t>Communication between VLANs succeeds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28416"/>
            <a:ext cx="2011680" cy="53035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56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438144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82B"/>
                </a:solidFill>
              </a:defRPr>
            </a:pPr>
            <a:r>
              <a:t>Clients receive 192.168.10.11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69664"/>
            <a:ext cx="2011680" cy="530352"/>
          </a:xfrm>
          <a:prstGeom prst="roundRect">
            <a:avLst/>
          </a:prstGeom>
          <a:solidFill>
            <a:srgbClr val="0B182B"/>
          </a:solidFill>
          <a:ln>
            <a:solidFill>
              <a:srgbClr val="0B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97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27939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82B"/>
                </a:solidFill>
              </a:defRPr>
            </a:pPr>
            <a:r>
              <a:t>SSH Version 2 is enabled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10912"/>
            <a:ext cx="2011680" cy="53035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389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1206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82B"/>
                </a:solidFill>
              </a:defRPr>
            </a:pPr>
            <a:r>
              <a:t>Successful PDU confirms end-to-end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B182B"/>
                </a:solidFill>
              </a:defRPr>
            </a:pPr>
            <a:r>
              <a:t>Project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A functional and scalable multi-VLAN network with centralized services and secure administration.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563EB"/>
                </a:solidFill>
              </a:defRPr>
            </a:pPr>
            <a:r>
              <a:t>4 VLANs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Logical network segmentation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373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563EB"/>
                </a:solidFill>
              </a:defRPr>
            </a:pPr>
            <a:r>
              <a:t>DHCP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Centralized automatic addressing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373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563EB"/>
                </a:solidFill>
              </a:defRPr>
            </a:pPr>
            <a:r>
              <a:t>DNS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Centralized name resolution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563EB"/>
                </a:solidFill>
              </a:defRPr>
            </a:pPr>
            <a:r>
              <a:t>OSPF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Dynamic inter-network routing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5661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563EB"/>
                </a:solidFill>
              </a:defRPr>
            </a:pPr>
            <a:r>
              <a:t>SSH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Secure remote administration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